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919c3d5f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919c3d5f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919c3d5fd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919c3d5fd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912f5ca0a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912f5ca0a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919c3d5fd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919c3d5fd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19c3d5fda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19c3d5fda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919c3d5fda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919c3d5fda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919c3d5fd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919c3d5fd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919c3d5fda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919c3d5fda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919c3d5fd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919c3d5fd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919c3d5fda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919c3d5fda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jp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jpg"/><Relationship Id="rId4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6.png"/><Relationship Id="rId4" Type="http://schemas.openxmlformats.org/officeDocument/2006/relationships/image" Target="../media/image11.jpg"/><Relationship Id="rId5" Type="http://schemas.openxmlformats.org/officeDocument/2006/relationships/image" Target="../media/image2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8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9.png"/><Relationship Id="rId4" Type="http://schemas.openxmlformats.org/officeDocument/2006/relationships/image" Target="../media/image8.jpg"/><Relationship Id="rId5" Type="http://schemas.openxmlformats.org/officeDocument/2006/relationships/image" Target="../media/image10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2363400" y="0"/>
            <a:ext cx="7103700" cy="51435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3152400" y="1150050"/>
            <a:ext cx="5525700" cy="32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4000">
                <a:solidFill>
                  <a:srgbClr val="FFFFFF"/>
                </a:solidFill>
              </a:rPr>
              <a:t>منصة التعلم الذكية</a:t>
            </a:r>
            <a:endParaRPr b="1" sz="4000">
              <a:solidFill>
                <a:srgbClr val="FFFFFF"/>
              </a:solidFill>
            </a:endParaRPr>
          </a:p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rgbClr val="FFFFFF"/>
              </a:solidFill>
            </a:endParaRPr>
          </a:p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3200">
                <a:solidFill>
                  <a:srgbClr val="FFFFFF"/>
                </a:solidFill>
              </a:rPr>
              <a:t> </a:t>
            </a:r>
            <a:endParaRPr i="1" sz="1800">
              <a:solidFill>
                <a:srgbClr val="CFE2F3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39050" y="3319600"/>
            <a:ext cx="15144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57" name="Google Shape;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0"/>
            <a:ext cx="2279000" cy="134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55450" y="2636775"/>
            <a:ext cx="3309900" cy="15222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FFFFFF">
                <a:alpha val="50000"/>
              </a:srgbClr>
            </a:outerShdw>
            <a:reflection blurRad="0" dir="5400000" dist="295275" endA="0" endPos="30000" fadeDir="5400012" kx="0" rotWithShape="0" algn="bl" stA="0" stPos="0" sy="-100000" ky="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 rot="5400000">
            <a:off x="5296951" y="-2944946"/>
            <a:ext cx="902100" cy="67920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773525" y="156825"/>
            <a:ext cx="6099900" cy="6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b="1" lang="ar" sz="3700">
                <a:solidFill>
                  <a:schemeClr val="lt1"/>
                </a:solidFill>
              </a:rPr>
              <a:t>المشكلة / الفرصة الاستثمارية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 txBox="1"/>
          <p:nvPr/>
        </p:nvSpPr>
        <p:spPr>
          <a:xfrm>
            <a:off x="618296" y="1157854"/>
            <a:ext cx="85257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1800">
                <a:solidFill>
                  <a:schemeClr val="dk1"/>
                </a:solidFill>
              </a:rPr>
              <a:t>نواجه خلال فترة </a:t>
            </a:r>
            <a:r>
              <a:rPr b="1" i="1" lang="ar" sz="1800" u="sng">
                <a:solidFill>
                  <a:srgbClr val="351C75"/>
                </a:solidFill>
              </a:rPr>
              <a:t>أزمة كورونا</a:t>
            </a:r>
            <a:r>
              <a:rPr b="1" lang="ar" sz="1800">
                <a:solidFill>
                  <a:schemeClr val="dk1"/>
                </a:solidFill>
              </a:rPr>
              <a:t> وفرة في الدورات التدريبية واللقاءات الإلكترونية حيث أنها متاحة للجميع، ولكن التحدي يكمن: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-"/>
            </a:pPr>
            <a:r>
              <a:rPr b="1" lang="ar" sz="1800">
                <a:solidFill>
                  <a:srgbClr val="FF9900"/>
                </a:solidFill>
              </a:rPr>
              <a:t>ما المجال</a:t>
            </a:r>
            <a:r>
              <a:rPr b="1" lang="ar" sz="1800">
                <a:solidFill>
                  <a:srgbClr val="FF9900"/>
                </a:solidFill>
              </a:rPr>
              <a:t> الذي سوف أتجه له حتى أبدأ مسيرتي التعليمية؟</a:t>
            </a:r>
            <a:endParaRPr b="1" sz="1800">
              <a:solidFill>
                <a:srgbClr val="FF9900"/>
              </a:solidFill>
            </a:endParaRPr>
          </a:p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-"/>
            </a:pPr>
            <a:r>
              <a:rPr b="1" lang="ar" sz="1800">
                <a:solidFill>
                  <a:srgbClr val="FF9900"/>
                </a:solidFill>
              </a:rPr>
              <a:t>ما المجالات التي سوف أكون بارع فيها؟</a:t>
            </a:r>
            <a:endParaRPr b="1" sz="1800">
              <a:solidFill>
                <a:srgbClr val="FF9900"/>
              </a:solidFill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73763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1700" y="2458375"/>
            <a:ext cx="2847900" cy="2236500"/>
          </a:xfrm>
          <a:prstGeom prst="pentagon">
            <a:avLst>
              <a:gd fmla="val 105146" name="hf"/>
              <a:gd fmla="val 110557" name="vf"/>
            </a:avLst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352000" cy="9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 rot="5400000">
            <a:off x="5296951" y="-2944946"/>
            <a:ext cx="902100" cy="67920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3453730" y="83841"/>
            <a:ext cx="54741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82880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ar" sz="3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ال</a:t>
            </a:r>
            <a:r>
              <a:rPr b="1" lang="ar" sz="3700">
                <a:solidFill>
                  <a:srgbClr val="FFFFFF"/>
                </a:solidFill>
              </a:rPr>
              <a:t>فئة المستهدفة</a:t>
            </a:r>
            <a:endParaRPr sz="1900"/>
          </a:p>
        </p:txBody>
      </p:sp>
      <p:sp>
        <p:nvSpPr>
          <p:cNvPr id="74" name="Google Shape;74;p15"/>
          <p:cNvSpPr txBox="1"/>
          <p:nvPr/>
        </p:nvSpPr>
        <p:spPr>
          <a:xfrm>
            <a:off x="743875" y="1230450"/>
            <a:ext cx="8000700" cy="371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2743200" marR="0" rtl="1" algn="r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343A40"/>
              </a:solidFill>
              <a:highlight>
                <a:srgbClr val="FFFF00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marR="0" rtl="1" algn="r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ar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a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4375" y="1728800"/>
            <a:ext cx="4695025" cy="261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352000" cy="9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 rot="5400000">
            <a:off x="5296951" y="-2944946"/>
            <a:ext cx="902100" cy="67920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453730" y="83841"/>
            <a:ext cx="54741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91440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ar" sz="3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القيمة المضافة </a:t>
            </a:r>
            <a:r>
              <a:rPr b="1" lang="ar" sz="3700">
                <a:solidFill>
                  <a:srgbClr val="FFFFFF"/>
                </a:solidFill>
              </a:rPr>
              <a:t>و</a:t>
            </a:r>
            <a:r>
              <a:rPr b="1" i="0" lang="ar" sz="3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التنافسية </a:t>
            </a:r>
            <a:endParaRPr sz="1900"/>
          </a:p>
        </p:txBody>
      </p:sp>
      <p:sp>
        <p:nvSpPr>
          <p:cNvPr id="83" name="Google Shape;83;p16"/>
          <p:cNvSpPr txBox="1"/>
          <p:nvPr/>
        </p:nvSpPr>
        <p:spPr>
          <a:xfrm>
            <a:off x="196200" y="1051125"/>
            <a:ext cx="8947800" cy="40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/>
          </a:p>
          <a:p>
            <a:pPr indent="-342900" lvl="0" marL="457200" marR="0" rtl="1" algn="r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Clr>
                <a:srgbClr val="351C75"/>
              </a:buClr>
              <a:buSzPts val="1800"/>
              <a:buChar char="◆"/>
            </a:pPr>
            <a:r>
              <a:rPr b="1" lang="ar" sz="1800">
                <a:solidFill>
                  <a:srgbClr val="351C75"/>
                </a:solidFill>
              </a:rPr>
              <a:t>منصة التعلم الذكية سوف يساهم ويساعد </a:t>
            </a:r>
            <a:r>
              <a:rPr b="1" lang="ar" sz="1800">
                <a:solidFill>
                  <a:srgbClr val="351C75"/>
                </a:solidFill>
              </a:rPr>
              <a:t>في الفهم الدقيق في تقييم شخصية المتعلم، وطرح دورات تدريبية ملائمة </a:t>
            </a:r>
            <a:r>
              <a:rPr b="1" lang="ar" sz="1800">
                <a:solidFill>
                  <a:srgbClr val="351C75"/>
                </a:solidFill>
              </a:rPr>
              <a:t>احتياجاته</a:t>
            </a:r>
            <a:r>
              <a:rPr b="1" lang="ar" sz="1800">
                <a:solidFill>
                  <a:srgbClr val="351C75"/>
                </a:solidFill>
              </a:rPr>
              <a:t> ورغباته. </a:t>
            </a:r>
            <a:endParaRPr b="1" sz="1800">
              <a:solidFill>
                <a:srgbClr val="351C75"/>
              </a:solidFill>
            </a:endParaRPr>
          </a:p>
          <a:p>
            <a:pPr indent="-34290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800"/>
              <a:buChar char="◆"/>
            </a:pPr>
            <a:r>
              <a:rPr b="1" lang="ar" sz="1800">
                <a:solidFill>
                  <a:srgbClr val="351C75"/>
                </a:solidFill>
                <a:highlight>
                  <a:srgbClr val="FFFFFF"/>
                </a:highlight>
              </a:rPr>
              <a:t>استثمار للوقت ستصبح المنصة المكان الأنسب لحاجة المتعلم لأن البرامج وفقًا لميوله، كما ستوفر عليه عناء البحث عبر المنصات الأخرى. </a:t>
            </a:r>
            <a:endParaRPr b="1" sz="1800">
              <a:solidFill>
                <a:srgbClr val="351C75"/>
              </a:solidFill>
              <a:highlight>
                <a:srgbClr val="FFFFFF"/>
              </a:highlight>
            </a:endParaRPr>
          </a:p>
          <a:p>
            <a:pPr indent="0" lvl="0" marL="457200" marR="0" rtl="1" algn="r">
              <a:lnSpc>
                <a:spcPct val="17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ar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3825" y="3722325"/>
            <a:ext cx="5977500" cy="1098300"/>
          </a:xfrm>
          <a:prstGeom prst="snip2Same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  <p:pic>
        <p:nvPicPr>
          <p:cNvPr id="85" name="Google Shape;8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2352000" cy="9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 rot="5400000">
            <a:off x="5296951" y="-2944946"/>
            <a:ext cx="902100" cy="67920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2659925" y="83850"/>
            <a:ext cx="63162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ar" sz="3200" u="none" cap="none" strike="noStrike">
                <a:solidFill>
                  <a:srgbClr val="FFFFFF"/>
                </a:solidFill>
              </a:rPr>
              <a:t>الوصف الكامل وطريقة </a:t>
            </a:r>
            <a:r>
              <a:rPr b="1" lang="ar" sz="3200">
                <a:solidFill>
                  <a:srgbClr val="FFFFFF"/>
                </a:solidFill>
              </a:rPr>
              <a:t>إستخدام المنصة</a:t>
            </a:r>
            <a:endParaRPr b="1" i="0" sz="3200" u="none" cap="none" strike="noStrike">
              <a:solidFill>
                <a:srgbClr val="FFFFFF"/>
              </a:solidFill>
            </a:endParaRPr>
          </a:p>
        </p:txBody>
      </p:sp>
      <p:sp>
        <p:nvSpPr>
          <p:cNvPr id="92" name="Google Shape;92;p17"/>
          <p:cNvSpPr txBox="1"/>
          <p:nvPr/>
        </p:nvSpPr>
        <p:spPr>
          <a:xfrm>
            <a:off x="210475" y="1252675"/>
            <a:ext cx="8686800" cy="3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ar" sz="1800">
                <a:solidFill>
                  <a:schemeClr val="dk1"/>
                </a:solidFill>
              </a:rPr>
              <a:t>عند بدء استخدام المنصة سيعرض مقياس عبارة عن إختبار بسيط يكتشف من خلاله المتعلم: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800">
              <a:solidFill>
                <a:schemeClr val="dk1"/>
              </a:solidFill>
            </a:endParaRPr>
          </a:p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-"/>
            </a:pPr>
            <a:r>
              <a:rPr b="1" lang="ar" sz="1800">
                <a:solidFill>
                  <a:srgbClr val="FF9900"/>
                </a:solidFill>
              </a:rPr>
              <a:t>ميوله</a:t>
            </a:r>
            <a:endParaRPr b="1" sz="1800">
              <a:solidFill>
                <a:srgbClr val="FF9900"/>
              </a:solidFill>
            </a:endParaRPr>
          </a:p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-"/>
            </a:pPr>
            <a:r>
              <a:rPr b="1" lang="ar" sz="1800">
                <a:solidFill>
                  <a:srgbClr val="FF9900"/>
                </a:solidFill>
              </a:rPr>
              <a:t>اهتمامه</a:t>
            </a:r>
            <a:endParaRPr b="1" sz="1800">
              <a:solidFill>
                <a:srgbClr val="FF9900"/>
              </a:solidFill>
            </a:endParaRPr>
          </a:p>
          <a:p>
            <a:pPr indent="-34290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9900"/>
              </a:buClr>
              <a:buSzPts val="1800"/>
              <a:buChar char="-"/>
            </a:pPr>
            <a:r>
              <a:rPr b="1" lang="ar" sz="1800">
                <a:solidFill>
                  <a:srgbClr val="FF9900"/>
                </a:solidFill>
              </a:rPr>
              <a:t>نقاط قوته وضعفه</a:t>
            </a:r>
            <a:endParaRPr b="1" sz="1800">
              <a:solidFill>
                <a:srgbClr val="FF9900"/>
              </a:solidFill>
            </a:endParaRPr>
          </a:p>
          <a:p>
            <a:pPr indent="0" lvl="0" marL="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</a:endParaRPr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</p:txBody>
      </p:sp>
      <p:pic>
        <p:nvPicPr>
          <p:cNvPr id="93" name="Google Shape;9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9200" y="2088175"/>
            <a:ext cx="3076500" cy="2200500"/>
          </a:xfrm>
          <a:prstGeom prst="ellipse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94" name="Google Shape;9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6175" y="0"/>
            <a:ext cx="2368174" cy="9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/>
          <p:nvPr/>
        </p:nvSpPr>
        <p:spPr>
          <a:xfrm rot="5400000">
            <a:off x="5296951" y="-2944946"/>
            <a:ext cx="902100" cy="67920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2615825" y="83850"/>
            <a:ext cx="64221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82880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ar" sz="3300">
                <a:solidFill>
                  <a:srgbClr val="FFFFFF"/>
                </a:solidFill>
              </a:rPr>
              <a:t>تسجيل جديد / تسجيل الدخول</a:t>
            </a:r>
            <a:r>
              <a:rPr b="1" lang="ar" sz="3200">
                <a:solidFill>
                  <a:srgbClr val="FFFFFF"/>
                </a:solidFill>
              </a:rPr>
              <a:t> </a:t>
            </a:r>
            <a:endParaRPr/>
          </a:p>
        </p:txBody>
      </p:sp>
      <p:sp>
        <p:nvSpPr>
          <p:cNvPr id="101" name="Google Shape;101;p18"/>
          <p:cNvSpPr/>
          <p:nvPr/>
        </p:nvSpPr>
        <p:spPr>
          <a:xfrm>
            <a:off x="3872275" y="2571750"/>
            <a:ext cx="1410900" cy="5142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352000" cy="9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5575" y="1054504"/>
            <a:ext cx="2247854" cy="3936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44725" y="1054504"/>
            <a:ext cx="2191233" cy="39365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9"/>
          <p:cNvSpPr/>
          <p:nvPr/>
        </p:nvSpPr>
        <p:spPr>
          <a:xfrm rot="5400000">
            <a:off x="5296951" y="-2944946"/>
            <a:ext cx="902100" cy="67920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2527675" y="83850"/>
            <a:ext cx="6525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82880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ar" sz="3700">
                <a:solidFill>
                  <a:srgbClr val="FFFFFF"/>
                </a:solidFill>
              </a:rPr>
              <a:t>اختبار منصة التعليم الذكي</a:t>
            </a:r>
            <a:endParaRPr sz="1900"/>
          </a:p>
        </p:txBody>
      </p:sp>
      <p:pic>
        <p:nvPicPr>
          <p:cNvPr id="111" name="Google Shape;11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352000" cy="9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52000" y="1069175"/>
            <a:ext cx="4907676" cy="393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 rot="5400000">
            <a:off x="5296951" y="-2944946"/>
            <a:ext cx="902100" cy="67920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0"/>
          <p:cNvSpPr txBox="1"/>
          <p:nvPr/>
        </p:nvSpPr>
        <p:spPr>
          <a:xfrm>
            <a:off x="2830225" y="83850"/>
            <a:ext cx="59532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228600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ar" sz="3700">
                <a:solidFill>
                  <a:srgbClr val="FFFFFF"/>
                </a:solidFill>
              </a:rPr>
              <a:t>نتيجة الاختبار</a:t>
            </a:r>
            <a:endParaRPr sz="1900"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352000" cy="90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474" y="1206900"/>
            <a:ext cx="3641425" cy="39366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28300" y="1107850"/>
            <a:ext cx="3902074" cy="3936601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0"/>
          <p:cNvSpPr/>
          <p:nvPr/>
        </p:nvSpPr>
        <p:spPr>
          <a:xfrm>
            <a:off x="3809438" y="2856075"/>
            <a:ext cx="1114500" cy="3231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/>
          <p:nvPr/>
        </p:nvSpPr>
        <p:spPr>
          <a:xfrm rot="5400000">
            <a:off x="5296951" y="-2944946"/>
            <a:ext cx="902100" cy="67920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1"/>
          <p:cNvSpPr txBox="1"/>
          <p:nvPr/>
        </p:nvSpPr>
        <p:spPr>
          <a:xfrm>
            <a:off x="3309295" y="83849"/>
            <a:ext cx="54741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45720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ar" sz="3700">
                <a:solidFill>
                  <a:srgbClr val="FFFFFF"/>
                </a:solidFill>
              </a:rPr>
              <a:t>تطلعات مستقبلية حول التطبيق</a:t>
            </a:r>
            <a:endParaRPr sz="1900"/>
          </a:p>
        </p:txBody>
      </p:sp>
      <p:sp>
        <p:nvSpPr>
          <p:cNvPr id="129" name="Google Shape;129;p21"/>
          <p:cNvSpPr txBox="1"/>
          <p:nvPr/>
        </p:nvSpPr>
        <p:spPr>
          <a:xfrm>
            <a:off x="426800" y="1225700"/>
            <a:ext cx="8406300" cy="352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◆"/>
            </a:pPr>
            <a:r>
              <a:rPr lang="ar" sz="1900"/>
              <a:t>استخدامات تقنيات الذكاء الاصطناعي لتطوير التطبيق الحالي في تحليل نتائج المقياس، ليشمل التوسع في المجالات التدريبية الأخرى.</a:t>
            </a:r>
            <a:endParaRPr sz="1900"/>
          </a:p>
          <a:p>
            <a:pPr indent="-34925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◆"/>
            </a:pPr>
            <a:r>
              <a:rPr lang="ar" sz="1900"/>
              <a:t>تعزيز أسلوب التعلم وتطويره عبراستخدام تقنية الواقع الافتراضي بدلًا من الطريقة التقليدية، من أجل إضفاء المتعة والتجديد في مجال التعلم الذاتي.</a:t>
            </a:r>
            <a:endParaRPr sz="1900"/>
          </a:p>
          <a:p>
            <a:pPr indent="-34925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◆"/>
            </a:pPr>
            <a:r>
              <a:rPr lang="ar" sz="1900"/>
              <a:t>اعتماد التطبيق مع جهة التدريب التقني والمهني أو أي جهات معنية أخرى، لتوثيق المحتوى واعتماد الشهادات بطريقة رسمية. </a:t>
            </a:r>
            <a:endParaRPr sz="1900"/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  <a:p>
            <a:pPr indent="-34925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◆"/>
            </a:pPr>
            <a:r>
              <a:rPr b="1" lang="ar" sz="1900">
                <a:solidFill>
                  <a:srgbClr val="351C75"/>
                </a:solidFill>
              </a:rPr>
              <a:t>إتاحة اللغتين:</a:t>
            </a:r>
            <a:r>
              <a:rPr lang="ar" sz="1900"/>
              <a:t> العربية، والإنجليزية للمحتوى التدريبي.</a:t>
            </a:r>
            <a:endParaRPr sz="1900"/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352000" cy="9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/>
          <p:nvPr/>
        </p:nvSpPr>
        <p:spPr>
          <a:xfrm rot="5400000">
            <a:off x="5296951" y="-2944946"/>
            <a:ext cx="902100" cy="67920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3309295" y="83849"/>
            <a:ext cx="54741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37160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ar" sz="3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خلف هذا العمل العظيم</a:t>
            </a:r>
            <a:endParaRPr sz="1900"/>
          </a:p>
        </p:txBody>
      </p:sp>
      <p:sp>
        <p:nvSpPr>
          <p:cNvPr id="137" name="Google Shape;137;p22"/>
          <p:cNvSpPr txBox="1"/>
          <p:nvPr/>
        </p:nvSpPr>
        <p:spPr>
          <a:xfrm>
            <a:off x="601000" y="1078275"/>
            <a:ext cx="8322600" cy="38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1900">
                <a:solidFill>
                  <a:srgbClr val="351C75"/>
                </a:solidFill>
              </a:rPr>
              <a:t>العنود فلاح </a:t>
            </a:r>
            <a:endParaRPr b="1" sz="1900">
              <a:solidFill>
                <a:srgbClr val="351C75"/>
              </a:solidFill>
            </a:endParaRPr>
          </a:p>
          <a:p>
            <a:pPr indent="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1800">
                <a:solidFill>
                  <a:schemeClr val="dk1"/>
                </a:solidFill>
              </a:rPr>
              <a:t>خريجة بكالوريوس نظم المعلومات الإدارية -</a:t>
            </a:r>
            <a:r>
              <a:rPr b="1" lang="ar" sz="1800">
                <a:solidFill>
                  <a:schemeClr val="dk1"/>
                </a:solidFill>
              </a:rPr>
              <a:t> جامعة الإمام عبدالرحمن بن فيصل</a:t>
            </a:r>
            <a:endParaRPr b="1" sz="1500">
              <a:solidFill>
                <a:schemeClr val="dk1"/>
              </a:solidFill>
            </a:endParaRPr>
          </a:p>
          <a:p>
            <a:pPr indent="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</a:endParaRPr>
          </a:p>
          <a:p>
            <a:pPr indent="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1900">
                <a:solidFill>
                  <a:srgbClr val="351C75"/>
                </a:solidFill>
              </a:rPr>
              <a:t>لطيفة اليعيش</a:t>
            </a:r>
            <a:r>
              <a:rPr b="1" lang="ar" sz="1800">
                <a:solidFill>
                  <a:srgbClr val="351C75"/>
                </a:solidFill>
              </a:rPr>
              <a:t> </a:t>
            </a:r>
            <a:endParaRPr b="1" sz="1800">
              <a:solidFill>
                <a:srgbClr val="351C75"/>
              </a:solidFill>
            </a:endParaRPr>
          </a:p>
          <a:p>
            <a:pPr indent="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1800"/>
              <a:t>خريجة </a:t>
            </a:r>
            <a:r>
              <a:rPr lang="ar" sz="1800"/>
              <a:t>بكالوريوس</a:t>
            </a:r>
            <a:r>
              <a:rPr lang="ar" sz="1800"/>
              <a:t> نظم المعلومات الإدارية</a:t>
            </a:r>
            <a:r>
              <a:rPr lang="ar" sz="1800">
                <a:solidFill>
                  <a:schemeClr val="dk1"/>
                </a:solidFill>
              </a:rPr>
              <a:t> - </a:t>
            </a:r>
            <a:r>
              <a:rPr b="1" lang="ar" sz="1800">
                <a:solidFill>
                  <a:schemeClr val="dk1"/>
                </a:solidFill>
              </a:rPr>
              <a:t>كلية الجبيل الجامعية</a:t>
            </a:r>
            <a:endParaRPr b="1" sz="1800">
              <a:solidFill>
                <a:schemeClr val="dk1"/>
              </a:solidFill>
            </a:endParaRPr>
          </a:p>
          <a:p>
            <a:pPr indent="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ar" sz="1900">
                <a:solidFill>
                  <a:srgbClr val="351C75"/>
                </a:solidFill>
              </a:rPr>
              <a:t>منصور العتيبي</a:t>
            </a:r>
            <a:endParaRPr b="1" sz="1900">
              <a:solidFill>
                <a:srgbClr val="351C75"/>
              </a:solidFill>
            </a:endParaRPr>
          </a:p>
          <a:p>
            <a:pPr indent="0" lvl="0" marL="457200" rtl="1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r" sz="1800">
                <a:solidFill>
                  <a:schemeClr val="dk1"/>
                </a:solidFill>
              </a:rPr>
              <a:t>خريج بكالوريوس علوم حاسب ( نظم المعلومات ) - </a:t>
            </a:r>
            <a:r>
              <a:rPr b="1" lang="ar" sz="1800">
                <a:solidFill>
                  <a:schemeClr val="dk1"/>
                </a:solidFill>
              </a:rPr>
              <a:t>جامعة شقراء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138" name="Google Shape;13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352000" cy="90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3"/>
          <p:cNvSpPr/>
          <p:nvPr/>
        </p:nvSpPr>
        <p:spPr>
          <a:xfrm>
            <a:off x="2324100" y="0"/>
            <a:ext cx="6819900" cy="51435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3"/>
          <p:cNvSpPr txBox="1"/>
          <p:nvPr/>
        </p:nvSpPr>
        <p:spPr>
          <a:xfrm>
            <a:off x="2934625" y="660175"/>
            <a:ext cx="5716500" cy="308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ar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شكرًا لوقتكم الثمين!</a:t>
            </a:r>
            <a:endParaRPr/>
          </a:p>
        </p:txBody>
      </p:sp>
      <p:sp>
        <p:nvSpPr>
          <p:cNvPr id="145" name="Google Shape;145;p23"/>
          <p:cNvSpPr txBox="1"/>
          <p:nvPr/>
        </p:nvSpPr>
        <p:spPr>
          <a:xfrm>
            <a:off x="4063276" y="1951728"/>
            <a:ext cx="4716000" cy="23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23"/>
          <p:cNvSpPr txBox="1"/>
          <p:nvPr/>
        </p:nvSpPr>
        <p:spPr>
          <a:xfrm>
            <a:off x="239050" y="3319600"/>
            <a:ext cx="1514400" cy="16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pic>
        <p:nvPicPr>
          <p:cNvPr id="147" name="Google Shape;14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324100" cy="142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